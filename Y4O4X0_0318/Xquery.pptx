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80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86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96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634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74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874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4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2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04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751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35442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175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098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390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660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882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FE2455-E091-4BD6-840D-D056C88E8DD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97112EF-FF7C-4A5C-85F0-8552764D5E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23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2589213" y="1185260"/>
            <a:ext cx="8421950" cy="1476977"/>
          </a:xfrm>
        </p:spPr>
        <p:txBody>
          <a:bodyPr>
            <a:normAutofit/>
          </a:bodyPr>
          <a:lstStyle/>
          <a:p>
            <a:r>
              <a:rPr lang="hu-HU" sz="6600" dirty="0" err="1">
                <a:solidFill>
                  <a:schemeClr val="tx1"/>
                </a:solidFill>
              </a:rPr>
              <a:t>Xquery</a:t>
            </a:r>
            <a:endParaRPr lang="en-US" sz="6600" dirty="0">
              <a:solidFill>
                <a:schemeClr val="tx1"/>
              </a:solidFill>
            </a:endParaRP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Szalóczy Krisztián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684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Mi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az</a:t>
            </a:r>
            <a:r>
              <a:rPr lang="en-US" dirty="0">
                <a:solidFill>
                  <a:schemeClr val="tx1"/>
                </a:solidFill>
              </a:rPr>
              <a:t> XQuery?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XQuery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lekérdező</a:t>
            </a:r>
            <a:r>
              <a:rPr lang="en-US" dirty="0"/>
              <a:t> </a:t>
            </a:r>
            <a:r>
              <a:rPr lang="en-US" dirty="0" err="1"/>
              <a:t>nyelv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b="1" dirty="0"/>
              <a:t>XML </a:t>
            </a:r>
            <a:r>
              <a:rPr lang="en-US" b="1" dirty="0" err="1"/>
              <a:t>adatok</a:t>
            </a:r>
            <a:r>
              <a:rPr lang="en-US" b="1" dirty="0"/>
              <a:t> </a:t>
            </a:r>
            <a:r>
              <a:rPr lang="en-US" b="1" dirty="0" err="1"/>
              <a:t>feldolgozására</a:t>
            </a:r>
            <a:r>
              <a:rPr lang="en-US" b="1" dirty="0"/>
              <a:t> </a:t>
            </a:r>
            <a:r>
              <a:rPr lang="en-US" b="1" dirty="0" err="1"/>
              <a:t>és</a:t>
            </a:r>
            <a:r>
              <a:rPr lang="en-US" b="1" dirty="0"/>
              <a:t> </a:t>
            </a:r>
            <a:r>
              <a:rPr lang="en-US" b="1" dirty="0" err="1"/>
              <a:t>lekérdezésére</a:t>
            </a:r>
            <a:r>
              <a:rPr lang="en-US" dirty="0"/>
              <a:t> </a:t>
            </a:r>
            <a:r>
              <a:rPr lang="en-US" dirty="0" err="1"/>
              <a:t>használnak</a:t>
            </a:r>
            <a:r>
              <a:rPr lang="en-US" dirty="0"/>
              <a:t>.</a:t>
            </a:r>
          </a:p>
          <a:p>
            <a:r>
              <a:rPr lang="en-US" dirty="0" err="1"/>
              <a:t>Hasonló</a:t>
            </a:r>
            <a:r>
              <a:rPr lang="en-US" dirty="0"/>
              <a:t> </a:t>
            </a:r>
            <a:r>
              <a:rPr lang="en-US" dirty="0" err="1"/>
              <a:t>szerepet</a:t>
            </a:r>
            <a:r>
              <a:rPr lang="en-US" dirty="0"/>
              <a:t> </a:t>
            </a:r>
            <a:r>
              <a:rPr lang="en-US" dirty="0" err="1"/>
              <a:t>tölt</a:t>
            </a:r>
            <a:r>
              <a:rPr lang="en-US" dirty="0"/>
              <a:t> be </a:t>
            </a:r>
            <a:r>
              <a:rPr lang="en-US" dirty="0" err="1"/>
              <a:t>az</a:t>
            </a:r>
            <a:r>
              <a:rPr lang="en-US" dirty="0"/>
              <a:t> XML </a:t>
            </a:r>
            <a:r>
              <a:rPr lang="en-US" dirty="0" err="1"/>
              <a:t>világában</a:t>
            </a:r>
            <a:r>
              <a:rPr lang="en-US" dirty="0"/>
              <a:t>, mint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SQL</a:t>
            </a:r>
            <a:r>
              <a:rPr lang="en-US" dirty="0"/>
              <a:t> a </a:t>
            </a:r>
            <a:r>
              <a:rPr lang="en-US" dirty="0" err="1"/>
              <a:t>relációs</a:t>
            </a:r>
            <a:r>
              <a:rPr lang="en-US" dirty="0"/>
              <a:t> </a:t>
            </a:r>
            <a:r>
              <a:rPr lang="en-US" dirty="0" err="1"/>
              <a:t>adatbázisoknál</a:t>
            </a:r>
            <a:r>
              <a:rPr lang="en-US" dirty="0"/>
              <a:t>.</a:t>
            </a:r>
          </a:p>
          <a:p>
            <a:r>
              <a:rPr lang="en-US" dirty="0" err="1"/>
              <a:t>Tehát</a:t>
            </a:r>
            <a:r>
              <a:rPr lang="en-US" dirty="0"/>
              <a:t>:</a:t>
            </a:r>
          </a:p>
          <a:p>
            <a:r>
              <a:rPr lang="en-US" dirty="0"/>
              <a:t>SQL → </a:t>
            </a:r>
            <a:r>
              <a:rPr lang="en-US" dirty="0" err="1"/>
              <a:t>táblák</a:t>
            </a:r>
            <a:r>
              <a:rPr lang="en-US" dirty="0"/>
              <a:t> </a:t>
            </a:r>
            <a:r>
              <a:rPr lang="en-US" dirty="0" err="1"/>
              <a:t>lekérdezése</a:t>
            </a:r>
            <a:endParaRPr lang="en-US" dirty="0"/>
          </a:p>
          <a:p>
            <a:r>
              <a:rPr lang="en-US" dirty="0"/>
              <a:t>XQuery → </a:t>
            </a:r>
            <a:r>
              <a:rPr lang="en-US" b="1" dirty="0"/>
              <a:t>XML </a:t>
            </a:r>
            <a:r>
              <a:rPr lang="en-US" b="1" dirty="0" err="1"/>
              <a:t>dokumentumok</a:t>
            </a:r>
            <a:r>
              <a:rPr lang="en-US" b="1" dirty="0"/>
              <a:t> </a:t>
            </a:r>
            <a:r>
              <a:rPr lang="en-US" b="1" dirty="0" err="1"/>
              <a:t>lekérdezése</a:t>
            </a:r>
            <a:endParaRPr lang="en-US" dirty="0"/>
          </a:p>
          <a:p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XQuery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XPath</a:t>
            </a:r>
            <a:r>
              <a:rPr lang="en-US" dirty="0"/>
              <a:t> </a:t>
            </a:r>
            <a:r>
              <a:rPr lang="en-US" dirty="0" err="1"/>
              <a:t>kifejezésekre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, </a:t>
            </a:r>
            <a:r>
              <a:rPr lang="en-US" dirty="0" err="1"/>
              <a:t>amelyekkel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XML </a:t>
            </a:r>
            <a:r>
              <a:rPr lang="en-US" dirty="0" err="1"/>
              <a:t>struktúrában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navigálni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361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célja - használata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589212" y="2219353"/>
            <a:ext cx="5926138" cy="36575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XML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b="1" dirty="0" err="1"/>
              <a:t>lekérdezése</a:t>
            </a:r>
            <a:endParaRPr lang="en-US" dirty="0"/>
          </a:p>
          <a:p>
            <a:pPr lvl="1"/>
            <a:r>
              <a:rPr lang="en-US" dirty="0"/>
              <a:t>XML </a:t>
            </a:r>
            <a:r>
              <a:rPr lang="en-US" dirty="0" err="1"/>
              <a:t>struktúrák</a:t>
            </a:r>
            <a:r>
              <a:rPr lang="en-US" dirty="0"/>
              <a:t> </a:t>
            </a:r>
            <a:r>
              <a:rPr lang="en-US" b="1" dirty="0" err="1"/>
              <a:t>feldolgozása</a:t>
            </a:r>
            <a:endParaRPr lang="en-US" dirty="0"/>
          </a:p>
          <a:p>
            <a:pPr lvl="1"/>
            <a:r>
              <a:rPr lang="hu-HU" dirty="0" err="1"/>
              <a:t>Ú</a:t>
            </a:r>
            <a:r>
              <a:rPr lang="en-US" dirty="0"/>
              <a:t>j XML </a:t>
            </a:r>
            <a:r>
              <a:rPr lang="en-US" b="1" dirty="0" err="1"/>
              <a:t>generálása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u-HU" altLang="en-US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r>
              <a:rPr lang="en-US" dirty="0" err="1"/>
              <a:t>Felhasználás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XML </a:t>
            </a:r>
            <a:r>
              <a:rPr lang="en-US" dirty="0" err="1"/>
              <a:t>adatbázisok</a:t>
            </a:r>
            <a:endParaRPr lang="en-US" dirty="0"/>
          </a:p>
          <a:p>
            <a:pPr lvl="1"/>
            <a:r>
              <a:rPr lang="en-US" dirty="0" err="1"/>
              <a:t>webszolgáltatások</a:t>
            </a:r>
            <a:endParaRPr lang="en-US" dirty="0"/>
          </a:p>
          <a:p>
            <a:pPr lvl="1"/>
            <a:r>
              <a:rPr lang="en-US" dirty="0" err="1"/>
              <a:t>dokumentumkezelő</a:t>
            </a:r>
            <a:r>
              <a:rPr lang="en-US" dirty="0"/>
              <a:t> </a:t>
            </a:r>
            <a:r>
              <a:rPr lang="en-US" dirty="0" err="1"/>
              <a:t>rendszerek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4104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Csoportba foglalás 52"/>
          <p:cNvGrpSpPr/>
          <p:nvPr/>
        </p:nvGrpSpPr>
        <p:grpSpPr>
          <a:xfrm>
            <a:off x="2268985" y="1826828"/>
            <a:ext cx="8719712" cy="4171950"/>
            <a:chOff x="1905000" y="406400"/>
            <a:chExt cx="8719712" cy="4171950"/>
          </a:xfrm>
        </p:grpSpPr>
        <p:sp>
          <p:nvSpPr>
            <p:cNvPr id="4" name="Ellipszis 3">
              <a:extLst>
                <a:ext uri="{FF2B5EF4-FFF2-40B4-BE49-F238E27FC236}">
                  <a16:creationId xmlns:a16="http://schemas.microsoft.com/office/drawing/2014/main" id="{DDF9337B-0E19-2E70-AFC0-2F31E7F488CF}"/>
                </a:ext>
              </a:extLst>
            </p:cNvPr>
            <p:cNvSpPr/>
            <p:nvPr/>
          </p:nvSpPr>
          <p:spPr>
            <a:xfrm>
              <a:off x="6629400" y="406400"/>
              <a:ext cx="1739900" cy="749300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b="1" dirty="0" err="1"/>
                <a:t>Xquery</a:t>
              </a:r>
              <a:endParaRPr lang="hu-HU" b="1" dirty="0"/>
            </a:p>
          </p:txBody>
        </p:sp>
        <p:sp>
          <p:nvSpPr>
            <p:cNvPr id="5" name="Ellipszis 4">
              <a:extLst>
                <a:ext uri="{FF2B5EF4-FFF2-40B4-BE49-F238E27FC236}">
                  <a16:creationId xmlns:a16="http://schemas.microsoft.com/office/drawing/2014/main" id="{22FA9C70-6626-2365-30B3-B3CC9F27DA34}"/>
                </a:ext>
              </a:extLst>
            </p:cNvPr>
            <p:cNvSpPr/>
            <p:nvPr/>
          </p:nvSpPr>
          <p:spPr>
            <a:xfrm>
              <a:off x="4202113" y="1660853"/>
              <a:ext cx="1422400" cy="749300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600" b="1" dirty="0" err="1"/>
                <a:t>Query</a:t>
              </a:r>
              <a:r>
                <a:rPr lang="hu-HU" sz="1600" dirty="0"/>
                <a:t> </a:t>
              </a:r>
              <a:r>
                <a:rPr lang="hu-HU" sz="1600" b="1" dirty="0"/>
                <a:t>FLWOR</a:t>
              </a:r>
            </a:p>
          </p:txBody>
        </p:sp>
        <p:sp>
          <p:nvSpPr>
            <p:cNvPr id="7" name="Ellipszis 6">
              <a:extLst>
                <a:ext uri="{FF2B5EF4-FFF2-40B4-BE49-F238E27FC236}">
                  <a16:creationId xmlns:a16="http://schemas.microsoft.com/office/drawing/2014/main" id="{2135333B-A0C0-3B67-54A8-3576D89ED47C}"/>
                </a:ext>
              </a:extLst>
            </p:cNvPr>
            <p:cNvSpPr/>
            <p:nvPr/>
          </p:nvSpPr>
          <p:spPr>
            <a:xfrm>
              <a:off x="9088012" y="1660853"/>
              <a:ext cx="1536700" cy="749300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600" b="1" dirty="0"/>
                <a:t>Update</a:t>
              </a:r>
            </a:p>
          </p:txBody>
        </p:sp>
        <p:sp>
          <p:nvSpPr>
            <p:cNvPr id="8" name="Ellipszis 7">
              <a:extLst>
                <a:ext uri="{FF2B5EF4-FFF2-40B4-BE49-F238E27FC236}">
                  <a16:creationId xmlns:a16="http://schemas.microsoft.com/office/drawing/2014/main" id="{B36A805E-D790-8253-A800-285F42F0D605}"/>
                </a:ext>
              </a:extLst>
            </p:cNvPr>
            <p:cNvSpPr/>
            <p:nvPr/>
          </p:nvSpPr>
          <p:spPr>
            <a:xfrm>
              <a:off x="1905000" y="4006850"/>
              <a:ext cx="1320800" cy="571500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200" b="1" dirty="0" err="1"/>
                <a:t>Selection</a:t>
              </a:r>
              <a:endParaRPr lang="hu-HU" sz="1200" b="1" dirty="0"/>
            </a:p>
          </p:txBody>
        </p:sp>
        <p:sp>
          <p:nvSpPr>
            <p:cNvPr id="9" name="Ellipszis 8">
              <a:extLst>
                <a:ext uri="{FF2B5EF4-FFF2-40B4-BE49-F238E27FC236}">
                  <a16:creationId xmlns:a16="http://schemas.microsoft.com/office/drawing/2014/main" id="{F4D740C2-2EDD-F56A-6528-EEE4BC005864}"/>
                </a:ext>
              </a:extLst>
            </p:cNvPr>
            <p:cNvSpPr/>
            <p:nvPr/>
          </p:nvSpPr>
          <p:spPr>
            <a:xfrm>
              <a:off x="3541713" y="4006850"/>
              <a:ext cx="1320800" cy="571500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200" b="1" dirty="0"/>
                <a:t>Projection</a:t>
              </a:r>
            </a:p>
          </p:txBody>
        </p:sp>
        <p:sp>
          <p:nvSpPr>
            <p:cNvPr id="10" name="Ellipszis 9">
              <a:extLst>
                <a:ext uri="{FF2B5EF4-FFF2-40B4-BE49-F238E27FC236}">
                  <a16:creationId xmlns:a16="http://schemas.microsoft.com/office/drawing/2014/main" id="{2B625B94-B04C-DE66-5865-4EE9676534BC}"/>
                </a:ext>
              </a:extLst>
            </p:cNvPr>
            <p:cNvSpPr/>
            <p:nvPr/>
          </p:nvSpPr>
          <p:spPr>
            <a:xfrm>
              <a:off x="4969271" y="4006850"/>
              <a:ext cx="1320800" cy="571499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200" b="1" dirty="0"/>
                <a:t>Group</a:t>
              </a:r>
              <a:r>
                <a:rPr lang="hu-HU" dirty="0"/>
                <a:t> </a:t>
              </a:r>
            </a:p>
          </p:txBody>
        </p:sp>
        <p:sp>
          <p:nvSpPr>
            <p:cNvPr id="11" name="Ellipszis 10">
              <a:extLst>
                <a:ext uri="{FF2B5EF4-FFF2-40B4-BE49-F238E27FC236}">
                  <a16:creationId xmlns:a16="http://schemas.microsoft.com/office/drawing/2014/main" id="{FEE51206-AE15-3A98-FE71-FD008335C960}"/>
                </a:ext>
              </a:extLst>
            </p:cNvPr>
            <p:cNvSpPr/>
            <p:nvPr/>
          </p:nvSpPr>
          <p:spPr>
            <a:xfrm>
              <a:off x="6501406" y="4006850"/>
              <a:ext cx="1320800" cy="571500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200" b="1" dirty="0" err="1"/>
                <a:t>Join</a:t>
              </a:r>
              <a:endParaRPr lang="hu-HU" sz="1200" b="1" dirty="0"/>
            </a:p>
          </p:txBody>
        </p:sp>
        <p:sp>
          <p:nvSpPr>
            <p:cNvPr id="12" name="Ellipszis 11">
              <a:extLst>
                <a:ext uri="{FF2B5EF4-FFF2-40B4-BE49-F238E27FC236}">
                  <a16:creationId xmlns:a16="http://schemas.microsoft.com/office/drawing/2014/main" id="{5D882330-2F7A-F9F8-8A84-A5D488D05218}"/>
                </a:ext>
              </a:extLst>
            </p:cNvPr>
            <p:cNvSpPr/>
            <p:nvPr/>
          </p:nvSpPr>
          <p:spPr>
            <a:xfrm>
              <a:off x="9103908" y="3917581"/>
              <a:ext cx="1520804" cy="660768"/>
            </a:xfrm>
            <a:prstGeom prst="ellips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hu-HU" sz="1200" b="1" dirty="0" err="1"/>
                <a:t>Insert</a:t>
              </a:r>
              <a:r>
                <a:rPr lang="hu-HU" sz="1200" dirty="0"/>
                <a:t>, </a:t>
              </a:r>
              <a:r>
                <a:rPr lang="hu-HU" sz="1200" b="1" dirty="0"/>
                <a:t>update</a:t>
              </a:r>
              <a:r>
                <a:rPr lang="hu-HU" sz="1200" dirty="0"/>
                <a:t>, </a:t>
              </a:r>
              <a:r>
                <a:rPr lang="hu-HU" sz="1200" b="1" dirty="0" err="1"/>
                <a:t>delete</a:t>
              </a:r>
              <a:endParaRPr lang="hu-HU" sz="1200" b="1" dirty="0"/>
            </a:p>
          </p:txBody>
        </p:sp>
        <p:cxnSp>
          <p:nvCxnSpPr>
            <p:cNvPr id="3" name="Egyenes összekötő 2"/>
            <p:cNvCxnSpPr>
              <a:stCxn id="5" idx="4"/>
              <a:endCxn id="8" idx="0"/>
            </p:cNvCxnSpPr>
            <p:nvPr/>
          </p:nvCxnSpPr>
          <p:spPr>
            <a:xfrm flipH="1">
              <a:off x="2565400" y="2410153"/>
              <a:ext cx="2347913" cy="15966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Egyenes összekötő 12"/>
            <p:cNvCxnSpPr>
              <a:stCxn id="5" idx="4"/>
              <a:endCxn id="9" idx="0"/>
            </p:cNvCxnSpPr>
            <p:nvPr/>
          </p:nvCxnSpPr>
          <p:spPr>
            <a:xfrm flipH="1">
              <a:off x="4202113" y="2410153"/>
              <a:ext cx="711200" cy="15966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>
              <a:stCxn id="5" idx="4"/>
              <a:endCxn id="10" idx="0"/>
            </p:cNvCxnSpPr>
            <p:nvPr/>
          </p:nvCxnSpPr>
          <p:spPr>
            <a:xfrm>
              <a:off x="4913313" y="2410153"/>
              <a:ext cx="716358" cy="15966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Egyenes összekötő 17"/>
            <p:cNvCxnSpPr>
              <a:stCxn id="5" idx="4"/>
              <a:endCxn id="11" idx="0"/>
            </p:cNvCxnSpPr>
            <p:nvPr/>
          </p:nvCxnSpPr>
          <p:spPr>
            <a:xfrm>
              <a:off x="4913313" y="2410153"/>
              <a:ext cx="2248493" cy="15966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Egyenes összekötő 20"/>
            <p:cNvCxnSpPr>
              <a:stCxn id="7" idx="4"/>
              <a:endCxn id="12" idx="0"/>
            </p:cNvCxnSpPr>
            <p:nvPr/>
          </p:nvCxnSpPr>
          <p:spPr>
            <a:xfrm>
              <a:off x="9856362" y="2410153"/>
              <a:ext cx="7948" cy="150742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gyenes összekötő 26"/>
            <p:cNvCxnSpPr>
              <a:stCxn id="4" idx="4"/>
              <a:endCxn id="5" idx="0"/>
            </p:cNvCxnSpPr>
            <p:nvPr/>
          </p:nvCxnSpPr>
          <p:spPr>
            <a:xfrm flipH="1">
              <a:off x="4913313" y="1155700"/>
              <a:ext cx="2586037" cy="5051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gyenes összekötő 29"/>
            <p:cNvCxnSpPr>
              <a:stCxn id="4" idx="4"/>
              <a:endCxn id="7" idx="0"/>
            </p:cNvCxnSpPr>
            <p:nvPr/>
          </p:nvCxnSpPr>
          <p:spPr>
            <a:xfrm>
              <a:off x="7499350" y="1155700"/>
              <a:ext cx="2357012" cy="5051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Szövegdoboz 53"/>
          <p:cNvSpPr txBox="1"/>
          <p:nvPr/>
        </p:nvSpPr>
        <p:spPr>
          <a:xfrm>
            <a:off x="1942184" y="656265"/>
            <a:ext cx="47791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Xquery</a:t>
            </a:r>
            <a:endParaRPr lang="en-US" sz="36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94121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FLWOR </a:t>
            </a:r>
            <a:r>
              <a:rPr lang="hu-HU" dirty="0" err="1"/>
              <a:t>expression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legismertebb</a:t>
            </a:r>
            <a:r>
              <a:rPr lang="en-US" dirty="0"/>
              <a:t> XQuery </a:t>
            </a:r>
            <a:r>
              <a:rPr lang="en-US" dirty="0" err="1"/>
              <a:t>szerkezet</a:t>
            </a:r>
            <a:r>
              <a:rPr lang="en-US" dirty="0"/>
              <a:t> a </a:t>
            </a:r>
            <a:r>
              <a:rPr lang="en-US" b="1" dirty="0"/>
              <a:t>FLWOR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XQuery-ben kb.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szerepet</a:t>
            </a:r>
            <a:r>
              <a:rPr lang="en-US" dirty="0"/>
              <a:t> </a:t>
            </a:r>
            <a:r>
              <a:rPr lang="en-US" dirty="0" err="1"/>
              <a:t>tölt</a:t>
            </a:r>
            <a:r>
              <a:rPr lang="en-US" dirty="0"/>
              <a:t> be, mint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SQL SELECT </a:t>
            </a:r>
            <a:r>
              <a:rPr lang="en-US" b="1" dirty="0" err="1"/>
              <a:t>lekérdezés</a:t>
            </a:r>
            <a:r>
              <a:rPr lang="en-US" dirty="0"/>
              <a:t>.</a:t>
            </a:r>
            <a:endParaRPr lang="hu-HU" dirty="0"/>
          </a:p>
          <a:p>
            <a:pPr lvl="1"/>
            <a:r>
              <a:rPr lang="hu-HU" dirty="0"/>
              <a:t>Mozaikszó : </a:t>
            </a:r>
          </a:p>
          <a:p>
            <a:pPr lvl="2"/>
            <a:r>
              <a:rPr lang="hu-HU" b="1" dirty="0"/>
              <a:t>FOR -&gt; </a:t>
            </a:r>
            <a:r>
              <a:rPr lang="hu-HU" dirty="0"/>
              <a:t>Iterál egy elem listán</a:t>
            </a:r>
          </a:p>
          <a:p>
            <a:pPr lvl="2"/>
            <a:r>
              <a:rPr lang="hu-HU" b="1" dirty="0"/>
              <a:t>LET -&gt; </a:t>
            </a:r>
            <a:r>
              <a:rPr lang="hu-HU" dirty="0"/>
              <a:t>Változóba tesz egy értéket</a:t>
            </a:r>
          </a:p>
          <a:p>
            <a:pPr lvl="2"/>
            <a:r>
              <a:rPr lang="hu-HU" b="1" dirty="0"/>
              <a:t>WHERE </a:t>
            </a:r>
            <a:r>
              <a:rPr lang="hu-HU" dirty="0"/>
              <a:t>-&gt; Szűrés (mint SQL WHERE)</a:t>
            </a:r>
          </a:p>
          <a:p>
            <a:pPr lvl="2"/>
            <a:r>
              <a:rPr lang="hu-HU" b="1" dirty="0"/>
              <a:t>ORDER BY </a:t>
            </a:r>
            <a:r>
              <a:rPr lang="hu-HU" dirty="0"/>
              <a:t>-&gt; Rendezés</a:t>
            </a:r>
          </a:p>
          <a:p>
            <a:pPr lvl="2"/>
            <a:r>
              <a:rPr lang="hu-HU" b="1" dirty="0"/>
              <a:t>RETURN </a:t>
            </a:r>
            <a:r>
              <a:rPr lang="hu-HU" dirty="0"/>
              <a:t>-&gt; Mit adjon vissza a lekérdezés</a:t>
            </a:r>
          </a:p>
          <a:p>
            <a:pPr lvl="4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371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2273329" y="641866"/>
            <a:ext cx="8911687" cy="1280890"/>
          </a:xfrm>
        </p:spPr>
        <p:txBody>
          <a:bodyPr/>
          <a:lstStyle/>
          <a:p>
            <a:r>
              <a:rPr lang="hu-HU" dirty="0"/>
              <a:t>1. Feladat</a:t>
            </a:r>
            <a:br>
              <a:rPr lang="hu-HU" dirty="0"/>
            </a:b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4904" y="2148396"/>
            <a:ext cx="5015883" cy="3737499"/>
          </a:xfrm>
        </p:spPr>
        <p:txBody>
          <a:bodyPr/>
          <a:lstStyle/>
          <a:p>
            <a:r>
              <a:rPr lang="en-US" dirty="0" err="1"/>
              <a:t>Készítsen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Xquery</a:t>
            </a:r>
            <a:r>
              <a:rPr lang="en-US" dirty="0"/>
              <a:t> </a:t>
            </a:r>
            <a:r>
              <a:rPr lang="en-US" dirty="0" err="1"/>
              <a:t>lekérdezést</a:t>
            </a:r>
            <a:r>
              <a:rPr lang="en-US" dirty="0"/>
              <a:t>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kiirtja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vendéget</a:t>
            </a:r>
            <a:r>
              <a:rPr lang="hu-HU" dirty="0"/>
              <a:t>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en-US" i="1" dirty="0">
                <a:latin typeface="Bahnschrift Light" panose="020B0502040204020203" pitchFamily="34" charset="0"/>
              </a:rPr>
              <a:t>doc("/</a:t>
            </a:r>
            <a:r>
              <a:rPr lang="en-US" i="1" dirty="0" err="1">
                <a:latin typeface="Bahnschrift Light" panose="020B0502040204020203" pitchFamily="34" charset="0"/>
              </a:rPr>
              <a:t>db</a:t>
            </a:r>
            <a:r>
              <a:rPr lang="hu-HU" i="1" dirty="0">
                <a:latin typeface="Bahnschrift Light" panose="020B0502040204020203" pitchFamily="34" charset="0"/>
              </a:rPr>
              <a:t>/</a:t>
            </a:r>
            <a:r>
              <a:rPr lang="en-US" i="1" dirty="0">
                <a:latin typeface="Bahnschrift Light" panose="020B0502040204020203" pitchFamily="34" charset="0"/>
              </a:rPr>
              <a:t>etterem.xml")//</a:t>
            </a:r>
            <a:r>
              <a:rPr lang="en-US" i="1" dirty="0" err="1">
                <a:latin typeface="Bahnschrift Light" panose="020B0502040204020203" pitchFamily="34" charset="0"/>
              </a:rPr>
              <a:t>vendeg</a:t>
            </a:r>
            <a:endParaRPr lang="en-US" i="1" dirty="0">
              <a:latin typeface="Bahnschrift Light" panose="020B0502040204020203" pitchFamily="34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717" y="1380198"/>
            <a:ext cx="5276583" cy="462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277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2. Feladat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927970" y="2053700"/>
            <a:ext cx="5622633" cy="3565865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Kérdezze</a:t>
            </a:r>
            <a:r>
              <a:rPr lang="en-US" dirty="0"/>
              <a:t> le </a:t>
            </a:r>
            <a:r>
              <a:rPr lang="en-US" dirty="0" err="1"/>
              <a:t>azokat</a:t>
            </a:r>
            <a:r>
              <a:rPr lang="en-US" dirty="0"/>
              <a:t> a </a:t>
            </a:r>
            <a:r>
              <a:rPr lang="en-US" dirty="0" err="1"/>
              <a:t>szakácsokat</a:t>
            </a:r>
            <a:r>
              <a:rPr lang="en-US" dirty="0"/>
              <a:t>, </a:t>
            </a:r>
            <a:r>
              <a:rPr lang="en-US" dirty="0" err="1"/>
              <a:t>akiknek</a:t>
            </a:r>
            <a:r>
              <a:rPr lang="en-US" dirty="0"/>
              <a:t> a </a:t>
            </a:r>
            <a:r>
              <a:rPr lang="en-US" dirty="0" err="1"/>
              <a:t>végzettségeik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 van </a:t>
            </a:r>
            <a:r>
              <a:rPr lang="en-US" dirty="0" err="1"/>
              <a:t>szakközépiskola</a:t>
            </a:r>
            <a:r>
              <a:rPr lang="en-US" dirty="0"/>
              <a:t> (</a:t>
            </a:r>
            <a:r>
              <a:rPr lang="en-US" dirty="0" err="1"/>
              <a:t>SzakácsID</a:t>
            </a:r>
            <a:r>
              <a:rPr lang="en-US" dirty="0"/>
              <a:t>, </a:t>
            </a:r>
            <a:r>
              <a:rPr lang="en-US" dirty="0" err="1"/>
              <a:t>Név</a:t>
            </a:r>
            <a:r>
              <a:rPr lang="en-US" dirty="0"/>
              <a:t>, </a:t>
            </a:r>
            <a:r>
              <a:rPr lang="en-US" dirty="0" err="1"/>
              <a:t>Részleg</a:t>
            </a:r>
            <a:r>
              <a:rPr lang="en-US" dirty="0"/>
              <a:t>, </a:t>
            </a:r>
            <a:r>
              <a:rPr lang="en-US" dirty="0" err="1"/>
              <a:t>Végzettségek</a:t>
            </a:r>
            <a:r>
              <a:rPr lang="en-US" dirty="0"/>
              <a:t>)! </a:t>
            </a:r>
            <a:endParaRPr lang="hu-HU" dirty="0"/>
          </a:p>
          <a:p>
            <a:endParaRPr lang="hu-HU" dirty="0"/>
          </a:p>
          <a:p>
            <a:pPr marL="0" indent="0">
              <a:lnSpc>
                <a:spcPct val="110000"/>
              </a:lnSpc>
              <a:buNone/>
            </a:pPr>
            <a:r>
              <a:rPr lang="en-US" i="1" dirty="0">
                <a:latin typeface="Bahnschrift Light" panose="020B0502040204020203" pitchFamily="34" charset="0"/>
              </a:rPr>
              <a:t>for $s in doc("/</a:t>
            </a:r>
            <a:r>
              <a:rPr lang="en-US" i="1" dirty="0" err="1">
                <a:latin typeface="Bahnschrift Light" panose="020B0502040204020203" pitchFamily="34" charset="0"/>
              </a:rPr>
              <a:t>db</a:t>
            </a:r>
            <a:r>
              <a:rPr lang="en-US" i="1" dirty="0">
                <a:latin typeface="Bahnschrift Light" panose="020B0502040204020203" pitchFamily="34" charset="0"/>
              </a:rPr>
              <a:t>/etterem.xml")//</a:t>
            </a:r>
            <a:r>
              <a:rPr lang="en-US" i="1" dirty="0" err="1">
                <a:latin typeface="Bahnschrift Light" panose="020B0502040204020203" pitchFamily="34" charset="0"/>
              </a:rPr>
              <a:t>szakacs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where $s/</a:t>
            </a:r>
            <a:r>
              <a:rPr lang="en-US" i="1" dirty="0" err="1">
                <a:latin typeface="Bahnschrift Light" panose="020B0502040204020203" pitchFamily="34" charset="0"/>
              </a:rPr>
              <a:t>vegzettseg</a:t>
            </a:r>
            <a:r>
              <a:rPr lang="en-US" i="1" dirty="0">
                <a:latin typeface="Bahnschrift Light" panose="020B0502040204020203" pitchFamily="34" charset="0"/>
              </a:rPr>
              <a:t> = "</a:t>
            </a:r>
            <a:r>
              <a:rPr lang="en-US" i="1" dirty="0" err="1">
                <a:latin typeface="Bahnschrift Light" panose="020B0502040204020203" pitchFamily="34" charset="0"/>
              </a:rPr>
              <a:t>Szakközépiskola</a:t>
            </a:r>
            <a:r>
              <a:rPr lang="hu-HU" i="1" dirty="0">
                <a:latin typeface="Bahnschrift Light" panose="020B0502040204020203" pitchFamily="34" charset="0"/>
              </a:rPr>
              <a:t>”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return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&lt;</a:t>
            </a:r>
            <a:r>
              <a:rPr lang="en-US" i="1" dirty="0" err="1">
                <a:latin typeface="Bahnschrift Light" panose="020B0502040204020203" pitchFamily="34" charset="0"/>
              </a:rPr>
              <a:t>szakacs</a:t>
            </a:r>
            <a:r>
              <a:rPr lang="en-US" i="1" dirty="0"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latin typeface="Bahnschrift Light" panose="020B0502040204020203" pitchFamily="34" charset="0"/>
              </a:rPr>
              <a:t>SzakacsID</a:t>
            </a:r>
            <a:r>
              <a:rPr lang="en-US" i="1" dirty="0">
                <a:latin typeface="Bahnschrift Light" panose="020B0502040204020203" pitchFamily="34" charset="0"/>
              </a:rPr>
              <a:t>&gt;{data($s/@id)}&lt;/</a:t>
            </a:r>
            <a:r>
              <a:rPr lang="en-US" i="1" dirty="0" err="1">
                <a:latin typeface="Bahnschrift Light" panose="020B0502040204020203" pitchFamily="34" charset="0"/>
              </a:rPr>
              <a:t>SzakacsID</a:t>
            </a:r>
            <a:r>
              <a:rPr lang="en-US" i="1" dirty="0"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latin typeface="Bahnschrift Light" panose="020B0502040204020203" pitchFamily="34" charset="0"/>
              </a:rPr>
              <a:t>Nev</a:t>
            </a:r>
            <a:r>
              <a:rPr lang="en-US" i="1" dirty="0">
                <a:latin typeface="Bahnschrift Light" panose="020B0502040204020203" pitchFamily="34" charset="0"/>
              </a:rPr>
              <a:t>&gt;{data($s/</a:t>
            </a:r>
            <a:r>
              <a:rPr lang="en-US" i="1" dirty="0" err="1">
                <a:latin typeface="Bahnschrift Light" panose="020B0502040204020203" pitchFamily="34" charset="0"/>
              </a:rPr>
              <a:t>nev</a:t>
            </a:r>
            <a:r>
              <a:rPr lang="en-US" i="1" dirty="0">
                <a:latin typeface="Bahnschrift Light" panose="020B0502040204020203" pitchFamily="34" charset="0"/>
              </a:rPr>
              <a:t>)}&lt;/</a:t>
            </a:r>
            <a:r>
              <a:rPr lang="en-US" i="1" dirty="0" err="1">
                <a:latin typeface="Bahnschrift Light" panose="020B0502040204020203" pitchFamily="34" charset="0"/>
              </a:rPr>
              <a:t>Nev</a:t>
            </a:r>
            <a:r>
              <a:rPr lang="en-US" i="1" dirty="0"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latin typeface="Bahnschrift Light" panose="020B0502040204020203" pitchFamily="34" charset="0"/>
              </a:rPr>
              <a:t>Reszleg</a:t>
            </a:r>
            <a:r>
              <a:rPr lang="en-US" i="1" dirty="0">
                <a:latin typeface="Bahnschrift Light" panose="020B0502040204020203" pitchFamily="34" charset="0"/>
              </a:rPr>
              <a:t>&gt;{data($s/</a:t>
            </a:r>
            <a:r>
              <a:rPr lang="en-US" i="1" dirty="0" err="1">
                <a:latin typeface="Bahnschrift Light" panose="020B0502040204020203" pitchFamily="34" charset="0"/>
              </a:rPr>
              <a:t>reszleg</a:t>
            </a:r>
            <a:r>
              <a:rPr lang="en-US" i="1" dirty="0">
                <a:latin typeface="Bahnschrift Light" panose="020B0502040204020203" pitchFamily="34" charset="0"/>
              </a:rPr>
              <a:t>)}&lt;/</a:t>
            </a:r>
            <a:r>
              <a:rPr lang="en-US" i="1" dirty="0" err="1">
                <a:latin typeface="Bahnschrift Light" panose="020B0502040204020203" pitchFamily="34" charset="0"/>
              </a:rPr>
              <a:t>Reszleg</a:t>
            </a:r>
            <a:r>
              <a:rPr lang="en-US" i="1" dirty="0"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latin typeface="Bahnschrift Light" panose="020B0502040204020203" pitchFamily="34" charset="0"/>
              </a:rPr>
              <a:t>Vegzettsegek</a:t>
            </a:r>
            <a:r>
              <a:rPr lang="en-US" i="1" dirty="0">
                <a:latin typeface="Bahnschrift Light" panose="020B0502040204020203" pitchFamily="34" charset="0"/>
              </a:rPr>
              <a:t>&gt;{$s/</a:t>
            </a:r>
            <a:r>
              <a:rPr lang="en-US" i="1" dirty="0" err="1">
                <a:latin typeface="Bahnschrift Light" panose="020B0502040204020203" pitchFamily="34" charset="0"/>
              </a:rPr>
              <a:t>vegzettseg</a:t>
            </a:r>
            <a:r>
              <a:rPr lang="en-US" i="1" dirty="0">
                <a:latin typeface="Bahnschrift Light" panose="020B0502040204020203" pitchFamily="34" charset="0"/>
              </a:rPr>
              <a:t>}&lt;/</a:t>
            </a:r>
            <a:r>
              <a:rPr lang="en-US" i="1" dirty="0" err="1">
                <a:latin typeface="Bahnschrift Light" panose="020B0502040204020203" pitchFamily="34" charset="0"/>
              </a:rPr>
              <a:t>Vegzettsegek</a:t>
            </a:r>
            <a:r>
              <a:rPr lang="en-US" i="1" dirty="0">
                <a:latin typeface="Bahnschrift Light" panose="020B0502040204020203" pitchFamily="34" charset="0"/>
              </a:rPr>
              <a:t>&gt;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&lt;/</a:t>
            </a:r>
            <a:r>
              <a:rPr lang="en-US" i="1" dirty="0" err="1">
                <a:latin typeface="Bahnschrift Light" panose="020B0502040204020203" pitchFamily="34" charset="0"/>
              </a:rPr>
              <a:t>szakacs</a:t>
            </a:r>
            <a:r>
              <a:rPr lang="en-US" i="1" dirty="0">
                <a:latin typeface="Bahnschrift Light" panose="020B0502040204020203" pitchFamily="34" charset="0"/>
              </a:rPr>
              <a:t>&gt;</a:t>
            </a: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0603" y="624110"/>
            <a:ext cx="5398741" cy="567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87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3. feladat</a:t>
            </a:r>
            <a:endParaRPr lang="en-US" dirty="0"/>
          </a:p>
        </p:txBody>
      </p:sp>
      <p:pic>
        <p:nvPicPr>
          <p:cNvPr id="4" name="Tartalom helye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4497" y="1264555"/>
            <a:ext cx="4460115" cy="4741268"/>
          </a:xfrm>
          <a:prstGeom prst="rect">
            <a:avLst/>
          </a:prstGeom>
        </p:spPr>
      </p:pic>
      <p:sp>
        <p:nvSpPr>
          <p:cNvPr id="6" name="Szövegdoboz 5"/>
          <p:cNvSpPr txBox="1"/>
          <p:nvPr/>
        </p:nvSpPr>
        <p:spPr>
          <a:xfrm>
            <a:off x="1633492" y="1905000"/>
            <a:ext cx="5255580" cy="3793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Kérdezze</a:t>
            </a:r>
            <a:r>
              <a:rPr lang="en-US" dirty="0"/>
              <a:t> le </a:t>
            </a:r>
            <a:r>
              <a:rPr lang="en-US" dirty="0" err="1"/>
              <a:t>azokat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éttermeket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</a:t>
            </a:r>
            <a:r>
              <a:rPr lang="en-US" dirty="0" err="1"/>
              <a:t>öt</a:t>
            </a:r>
            <a:r>
              <a:rPr lang="en-US" dirty="0"/>
              <a:t> </a:t>
            </a:r>
            <a:r>
              <a:rPr lang="en-US" dirty="0" err="1"/>
              <a:t>csillagosak</a:t>
            </a:r>
            <a:r>
              <a:rPr lang="en-US" dirty="0"/>
              <a:t> (</a:t>
            </a:r>
            <a:r>
              <a:rPr lang="en-US" dirty="0" err="1"/>
              <a:t>ÉtteremID</a:t>
            </a:r>
            <a:r>
              <a:rPr lang="en-US" dirty="0"/>
              <a:t>, </a:t>
            </a:r>
            <a:r>
              <a:rPr lang="en-US" dirty="0" err="1"/>
              <a:t>Név</a:t>
            </a:r>
            <a:r>
              <a:rPr lang="en-US" dirty="0"/>
              <a:t>, </a:t>
            </a:r>
            <a:r>
              <a:rPr lang="en-US" dirty="0" err="1"/>
              <a:t>Cím</a:t>
            </a:r>
            <a:r>
              <a:rPr lang="en-US" dirty="0"/>
              <a:t>, </a:t>
            </a:r>
            <a:r>
              <a:rPr lang="en-US" dirty="0" err="1"/>
              <a:t>Csillag</a:t>
            </a:r>
            <a:r>
              <a:rPr lang="en-US" dirty="0"/>
              <a:t>)!</a:t>
            </a:r>
            <a:endParaRPr lang="hu-HU" dirty="0"/>
          </a:p>
          <a:p>
            <a:endParaRPr lang="hu-HU" dirty="0"/>
          </a:p>
          <a:p>
            <a:pPr defTabSz="457200">
              <a:lnSpc>
                <a:spcPct val="110000"/>
              </a:lnSpc>
              <a:spcBef>
                <a:spcPts val="1000"/>
              </a:spcBef>
              <a:buClr>
                <a:schemeClr val="accent1"/>
              </a:buClr>
            </a:pP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for $e in doc("/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db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/etterem.xml")//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etterem</a:t>
            </a:r>
            <a:br>
              <a:rPr lang="hu-HU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</a:b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where $e/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csillag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 = 5</a:t>
            </a:r>
            <a:br>
              <a:rPr lang="hu-HU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</a:b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return</a:t>
            </a:r>
            <a:br>
              <a:rPr lang="hu-HU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</a:b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&lt;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etterem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EtteremID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&gt;{data($e/@id)}&lt;/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EtteremID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Nev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&gt;{data($e/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nev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)}&lt;/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Nev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  </a:t>
            </a:r>
            <a:br>
              <a:rPr lang="hu-HU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</a:b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&lt;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Cim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&gt;{$e/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cim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}&lt;/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Cim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Csillag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&gt;{data($e/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csillag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)}&lt;/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Csillag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</a:t>
            </a:r>
            <a:br>
              <a:rPr lang="hu-HU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</a:b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&lt;/</a:t>
            </a:r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etterem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Light" panose="020B0502040204020203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366501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4. Feladat</a:t>
            </a:r>
            <a:endParaRPr lang="en-US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298773" y="2002655"/>
            <a:ext cx="6909894" cy="3777622"/>
          </a:xfrm>
        </p:spPr>
        <p:txBody>
          <a:bodyPr>
            <a:normAutofit/>
          </a:bodyPr>
          <a:lstStyle/>
          <a:p>
            <a:r>
              <a:rPr lang="hu-HU" dirty="0"/>
              <a:t>Kérdezze le azokat a gyakornokokat, akik délutánra be vannak osztva (</a:t>
            </a:r>
            <a:r>
              <a:rPr lang="hu-HU" dirty="0" err="1"/>
              <a:t>GyakornokID</a:t>
            </a:r>
            <a:r>
              <a:rPr lang="hu-HU" dirty="0"/>
              <a:t>, Név, Gyakorlat kezdete, Műszak)! </a:t>
            </a:r>
          </a:p>
          <a:p>
            <a:pPr marL="400050" lvl="1" indent="0">
              <a:lnSpc>
                <a:spcPct val="110000"/>
              </a:lnSpc>
              <a:buNone/>
            </a:pPr>
            <a:r>
              <a:rPr lang="en-US" i="1" dirty="0">
                <a:latin typeface="Bahnschrift Light" panose="020B0502040204020203" pitchFamily="34" charset="0"/>
              </a:rPr>
              <a:t>for $g in doc("/</a:t>
            </a:r>
            <a:r>
              <a:rPr lang="en-US" i="1" dirty="0" err="1">
                <a:latin typeface="Bahnschrift Light" panose="020B0502040204020203" pitchFamily="34" charset="0"/>
              </a:rPr>
              <a:t>db</a:t>
            </a:r>
            <a:r>
              <a:rPr lang="en-US" i="1" dirty="0">
                <a:latin typeface="Bahnschrift Light" panose="020B0502040204020203" pitchFamily="34" charset="0"/>
              </a:rPr>
              <a:t>/etterem.xml")//</a:t>
            </a:r>
            <a:r>
              <a:rPr lang="en-US" i="1" dirty="0" err="1">
                <a:latin typeface="Bahnschrift Light" panose="020B0502040204020203" pitchFamily="34" charset="0"/>
              </a:rPr>
              <a:t>gyakornokwhere</a:t>
            </a:r>
            <a:r>
              <a:rPr lang="en-US" i="1" dirty="0">
                <a:latin typeface="Bahnschrift Light" panose="020B0502040204020203" pitchFamily="34" charset="0"/>
              </a:rPr>
              <a:t> 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$g/</a:t>
            </a:r>
            <a:r>
              <a:rPr lang="en-US" i="1" dirty="0" err="1">
                <a:latin typeface="Bahnschrift Light" panose="020B0502040204020203" pitchFamily="34" charset="0"/>
              </a:rPr>
              <a:t>muszak</a:t>
            </a:r>
            <a:r>
              <a:rPr lang="en-US" i="1" dirty="0">
                <a:latin typeface="Bahnschrift Light" panose="020B0502040204020203" pitchFamily="34" charset="0"/>
              </a:rPr>
              <a:t> = "</a:t>
            </a:r>
            <a:r>
              <a:rPr lang="en-US" i="1" dirty="0" err="1">
                <a:latin typeface="Bahnschrift Light" panose="020B0502040204020203" pitchFamily="34" charset="0"/>
              </a:rPr>
              <a:t>délután</a:t>
            </a:r>
            <a:r>
              <a:rPr lang="hu-HU" i="1" dirty="0">
                <a:latin typeface="Bahnschrift Light" panose="020B0502040204020203" pitchFamily="34" charset="0"/>
              </a:rPr>
              <a:t>”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return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&lt;</a:t>
            </a:r>
            <a:r>
              <a:rPr lang="en-US" i="1" dirty="0" err="1">
                <a:latin typeface="Bahnschrift Light" panose="020B0502040204020203" pitchFamily="34" charset="0"/>
              </a:rPr>
              <a:t>gyakornok</a:t>
            </a:r>
            <a:r>
              <a:rPr lang="en-US" i="1" dirty="0">
                <a:latin typeface="Bahnschrift Light" panose="020B0502040204020203" pitchFamily="34" charset="0"/>
              </a:rPr>
              <a:t>&gt;  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&lt;</a:t>
            </a:r>
            <a:r>
              <a:rPr lang="en-US" i="1" dirty="0" err="1">
                <a:latin typeface="Bahnschrift Light" panose="020B0502040204020203" pitchFamily="34" charset="0"/>
              </a:rPr>
              <a:t>GyakornokID</a:t>
            </a:r>
            <a:r>
              <a:rPr lang="en-US" i="1" dirty="0">
                <a:latin typeface="Bahnschrift Light" panose="020B0502040204020203" pitchFamily="34" charset="0"/>
              </a:rPr>
              <a:t>&gt;{data($g/@id)}&lt;/</a:t>
            </a:r>
            <a:r>
              <a:rPr lang="en-US" i="1" dirty="0" err="1">
                <a:latin typeface="Bahnschrift Light" panose="020B0502040204020203" pitchFamily="34" charset="0"/>
              </a:rPr>
              <a:t>GyakornokID</a:t>
            </a:r>
            <a:r>
              <a:rPr lang="en-US" i="1" dirty="0"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latin typeface="Bahnschrift Light" panose="020B0502040204020203" pitchFamily="34" charset="0"/>
              </a:rPr>
              <a:t>Nev</a:t>
            </a:r>
            <a:r>
              <a:rPr lang="en-US" i="1" dirty="0">
                <a:latin typeface="Bahnschrift Light" panose="020B0502040204020203" pitchFamily="34" charset="0"/>
              </a:rPr>
              <a:t>&gt;{data($g/</a:t>
            </a:r>
            <a:r>
              <a:rPr lang="en-US" i="1" dirty="0" err="1">
                <a:latin typeface="Bahnschrift Light" panose="020B0502040204020203" pitchFamily="34" charset="0"/>
              </a:rPr>
              <a:t>nev</a:t>
            </a:r>
            <a:r>
              <a:rPr lang="en-US" i="1" dirty="0">
                <a:latin typeface="Bahnschrift Light" panose="020B0502040204020203" pitchFamily="34" charset="0"/>
              </a:rPr>
              <a:t>)}&lt;/</a:t>
            </a:r>
            <a:r>
              <a:rPr lang="en-US" i="1" dirty="0" err="1">
                <a:latin typeface="Bahnschrift Light" panose="020B0502040204020203" pitchFamily="34" charset="0"/>
              </a:rPr>
              <a:t>Nev</a:t>
            </a:r>
            <a:r>
              <a:rPr lang="en-US" i="1" dirty="0">
                <a:latin typeface="Bahnschrift Light" panose="020B0502040204020203" pitchFamily="34" charset="0"/>
              </a:rPr>
              <a:t>&gt;  &lt;</a:t>
            </a:r>
            <a:r>
              <a:rPr lang="en-US" i="1" dirty="0" err="1">
                <a:latin typeface="Bahnschrift Light" panose="020B0502040204020203" pitchFamily="34" charset="0"/>
              </a:rPr>
              <a:t>GyakorlatKezdete</a:t>
            </a:r>
            <a:r>
              <a:rPr lang="en-US" i="1" dirty="0">
                <a:latin typeface="Bahnschrift Light" panose="020B0502040204020203" pitchFamily="34" charset="0"/>
              </a:rPr>
              <a:t>&gt;{data($g/</a:t>
            </a:r>
            <a:r>
              <a:rPr lang="en-US" i="1" dirty="0" err="1">
                <a:latin typeface="Bahnschrift Light" panose="020B0502040204020203" pitchFamily="34" charset="0"/>
              </a:rPr>
              <a:t>gyakorlat</a:t>
            </a:r>
            <a:r>
              <a:rPr lang="en-US" i="1" dirty="0">
                <a:latin typeface="Bahnschrift Light" panose="020B0502040204020203" pitchFamily="34" charset="0"/>
              </a:rPr>
              <a:t>/</a:t>
            </a:r>
            <a:r>
              <a:rPr lang="en-US" i="1" dirty="0" err="1">
                <a:latin typeface="Bahnschrift Light" panose="020B0502040204020203" pitchFamily="34" charset="0"/>
              </a:rPr>
              <a:t>kezdete</a:t>
            </a:r>
            <a:r>
              <a:rPr lang="en-US" i="1" dirty="0">
                <a:latin typeface="Bahnschrift Light" panose="020B0502040204020203" pitchFamily="34" charset="0"/>
              </a:rPr>
              <a:t>)}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&lt;/</a:t>
            </a:r>
            <a:r>
              <a:rPr lang="en-US" i="1" dirty="0" err="1">
                <a:latin typeface="Bahnschrift Light" panose="020B0502040204020203" pitchFamily="34" charset="0"/>
              </a:rPr>
              <a:t>GyakorlatKezdete</a:t>
            </a:r>
            <a:r>
              <a:rPr lang="en-US" i="1" dirty="0">
                <a:latin typeface="Bahnschrift Light" panose="020B0502040204020203" pitchFamily="34" charset="0"/>
              </a:rPr>
              <a:t>&gt; 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&lt;</a:t>
            </a:r>
            <a:r>
              <a:rPr lang="en-US" i="1" dirty="0" err="1">
                <a:latin typeface="Bahnschrift Light" panose="020B0502040204020203" pitchFamily="34" charset="0"/>
              </a:rPr>
              <a:t>Muszak</a:t>
            </a:r>
            <a:r>
              <a:rPr lang="en-US" i="1" dirty="0">
                <a:latin typeface="Bahnschrift Light" panose="020B0502040204020203" pitchFamily="34" charset="0"/>
              </a:rPr>
              <a:t>&gt;{data($g/</a:t>
            </a:r>
            <a:r>
              <a:rPr lang="en-US" i="1" dirty="0" err="1">
                <a:latin typeface="Bahnschrift Light" panose="020B0502040204020203" pitchFamily="34" charset="0"/>
              </a:rPr>
              <a:t>muszak</a:t>
            </a:r>
            <a:r>
              <a:rPr lang="en-US" i="1" dirty="0">
                <a:latin typeface="Bahnschrift Light" panose="020B0502040204020203" pitchFamily="34" charset="0"/>
              </a:rPr>
              <a:t>)}&lt;/</a:t>
            </a:r>
            <a:r>
              <a:rPr lang="en-US" i="1" dirty="0" err="1">
                <a:latin typeface="Bahnschrift Light" panose="020B0502040204020203" pitchFamily="34" charset="0"/>
              </a:rPr>
              <a:t>Muszak</a:t>
            </a:r>
            <a:r>
              <a:rPr lang="en-US" i="1" dirty="0">
                <a:latin typeface="Bahnschrift Light" panose="020B0502040204020203" pitchFamily="34" charset="0"/>
              </a:rPr>
              <a:t>&gt;&lt;</a:t>
            </a:r>
            <a:br>
              <a:rPr lang="hu-HU" i="1" dirty="0">
                <a:latin typeface="Bahnschrift Light" panose="020B0502040204020203" pitchFamily="34" charset="0"/>
              </a:rPr>
            </a:br>
            <a:r>
              <a:rPr lang="en-US" i="1" dirty="0">
                <a:latin typeface="Bahnschrift Light" panose="020B0502040204020203" pitchFamily="34" charset="0"/>
              </a:rPr>
              <a:t>/</a:t>
            </a:r>
            <a:r>
              <a:rPr lang="en-US" i="1" dirty="0" err="1">
                <a:latin typeface="Bahnschrift Light" panose="020B0502040204020203" pitchFamily="34" charset="0"/>
              </a:rPr>
              <a:t>gyakornok</a:t>
            </a:r>
            <a:r>
              <a:rPr lang="en-US" i="1" dirty="0">
                <a:latin typeface="Bahnschrift Light" panose="020B0502040204020203" pitchFamily="34" charset="0"/>
              </a:rPr>
              <a:t>&gt;</a:t>
            </a:r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277" y="1742003"/>
            <a:ext cx="5224323" cy="411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908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Használt </a:t>
            </a:r>
            <a:r>
              <a:rPr lang="hu-HU" dirty="0" err="1"/>
              <a:t>Xpath</a:t>
            </a:r>
            <a:r>
              <a:rPr lang="hu-HU" dirty="0"/>
              <a:t> kifejezések</a:t>
            </a:r>
            <a:endParaRPr lang="en-US" dirty="0"/>
          </a:p>
        </p:txBody>
      </p:sp>
      <p:graphicFrame>
        <p:nvGraphicFramePr>
          <p:cNvPr id="4" name="Tartalom helye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3127671"/>
              </p:ext>
            </p:extLst>
          </p:nvPr>
        </p:nvGraphicFramePr>
        <p:xfrm>
          <a:off x="3103271" y="1689717"/>
          <a:ext cx="8401341" cy="457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447">
                  <a:extLst>
                    <a:ext uri="{9D8B030D-6E8A-4147-A177-3AD203B41FA5}">
                      <a16:colId xmlns:a16="http://schemas.microsoft.com/office/drawing/2014/main" val="925800942"/>
                    </a:ext>
                  </a:extLst>
                </a:gridCol>
                <a:gridCol w="2800447">
                  <a:extLst>
                    <a:ext uri="{9D8B030D-6E8A-4147-A177-3AD203B41FA5}">
                      <a16:colId xmlns:a16="http://schemas.microsoft.com/office/drawing/2014/main" val="671270567"/>
                    </a:ext>
                  </a:extLst>
                </a:gridCol>
                <a:gridCol w="2800447">
                  <a:extLst>
                    <a:ext uri="{9D8B030D-6E8A-4147-A177-3AD203B41FA5}">
                      <a16:colId xmlns:a16="http://schemas.microsoft.com/office/drawing/2014/main" val="3629005481"/>
                    </a:ext>
                  </a:extLst>
                </a:gridCol>
              </a:tblGrid>
              <a:tr h="243465">
                <a:tc>
                  <a:txBody>
                    <a:bodyPr/>
                    <a:lstStyle/>
                    <a:p>
                      <a:r>
                        <a:rPr lang="en-US" sz="1100" dirty="0" err="1"/>
                        <a:t>Feladat</a:t>
                      </a:r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XPath kifejezés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Jelentés</a:t>
                      </a:r>
                      <a:endParaRPr 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3163458"/>
                  </a:ext>
                </a:extLst>
              </a:tr>
              <a:tr h="600325">
                <a:tc>
                  <a:txBody>
                    <a:bodyPr/>
                    <a:lstStyle/>
                    <a:p>
                      <a:r>
                        <a:rPr lang="en-US" sz="1100"/>
                        <a:t>Szakácsok lekérdezése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//szakacs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Az XML dokumentum összes szakács elemének kiválasztása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4387894"/>
                  </a:ext>
                </a:extLst>
              </a:tr>
              <a:tr h="420227">
                <a:tc>
                  <a:txBody>
                    <a:bodyPr/>
                    <a:lstStyle/>
                    <a:p>
                      <a:r>
                        <a:rPr lang="en-US" sz="1100"/>
                        <a:t>Szakács végzettsége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$s/vegzettseg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Az adott szakács végzettség elemei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6365189"/>
                  </a:ext>
                </a:extLst>
              </a:tr>
              <a:tr h="420227">
                <a:tc>
                  <a:txBody>
                    <a:bodyPr/>
                    <a:lstStyle/>
                    <a:p>
                      <a:r>
                        <a:rPr lang="en-US" sz="1100" dirty="0" err="1"/>
                        <a:t>Éttermek</a:t>
                      </a:r>
                      <a:r>
                        <a:rPr lang="en-US" sz="1100" dirty="0"/>
                        <a:t> </a:t>
                      </a:r>
                      <a:r>
                        <a:rPr lang="en-US" sz="1100" dirty="0" err="1"/>
                        <a:t>lekérdezése</a:t>
                      </a:r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//</a:t>
                      </a:r>
                      <a:r>
                        <a:rPr lang="en-US" sz="1100" dirty="0" err="1"/>
                        <a:t>etterem</a:t>
                      </a:r>
                      <a:endParaRPr 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/>
                        <a:t>Az összes étterem elem kiválasztása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0804346"/>
                  </a:ext>
                </a:extLst>
              </a:tr>
              <a:tr h="420227">
                <a:tc>
                  <a:txBody>
                    <a:bodyPr/>
                    <a:lstStyle/>
                    <a:p>
                      <a:r>
                        <a:rPr lang="en-US" sz="1100"/>
                        <a:t>Étterem csillaga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$e/csillag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Az adott étterem csillag értéke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6776315"/>
                  </a:ext>
                </a:extLst>
              </a:tr>
              <a:tr h="243465">
                <a:tc>
                  <a:txBody>
                    <a:bodyPr/>
                    <a:lstStyle/>
                    <a:p>
                      <a:r>
                        <a:rPr lang="en-US" sz="1100"/>
                        <a:t>Étterem neve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$e/nev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Az étterem neve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376196"/>
                  </a:ext>
                </a:extLst>
              </a:tr>
              <a:tr h="243465">
                <a:tc>
                  <a:txBody>
                    <a:bodyPr/>
                    <a:lstStyle/>
                    <a:p>
                      <a:r>
                        <a:rPr lang="en-US" sz="1100"/>
                        <a:t>Étterem címe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$e/cim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Az étterem cím adatai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2557042"/>
                  </a:ext>
                </a:extLst>
              </a:tr>
              <a:tr h="420227">
                <a:tc>
                  <a:txBody>
                    <a:bodyPr/>
                    <a:lstStyle/>
                    <a:p>
                      <a:r>
                        <a:rPr lang="en-US" sz="1100"/>
                        <a:t>Gyakornokok lekérdezése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//gyakornok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Az összes gyakornok elem kiválasztása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1586805"/>
                  </a:ext>
                </a:extLst>
              </a:tr>
              <a:tr h="420227">
                <a:tc>
                  <a:txBody>
                    <a:bodyPr/>
                    <a:lstStyle/>
                    <a:p>
                      <a:r>
                        <a:rPr lang="hu-HU" sz="1100"/>
                        <a:t>Gyakornok műszaka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$g/muszak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 sz="1100"/>
                        <a:t>Az adott gyakornok műszak adata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6319821"/>
                  </a:ext>
                </a:extLst>
              </a:tr>
              <a:tr h="243465">
                <a:tc>
                  <a:txBody>
                    <a:bodyPr/>
                    <a:lstStyle/>
                    <a:p>
                      <a:r>
                        <a:rPr lang="en-US" sz="1100"/>
                        <a:t>Gyakornok neve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$g/nev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 gyakornok neve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7129301"/>
                  </a:ext>
                </a:extLst>
              </a:tr>
              <a:tr h="420227">
                <a:tc>
                  <a:txBody>
                    <a:bodyPr/>
                    <a:lstStyle/>
                    <a:p>
                      <a:r>
                        <a:rPr lang="en-US" sz="1100"/>
                        <a:t>Gyakorlat kezdete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$g/gyakorlat/kezdete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A gyakornok gyakorlatának kezdete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2256174"/>
                  </a:ext>
                </a:extLst>
              </a:tr>
              <a:tr h="420227">
                <a:tc>
                  <a:txBody>
                    <a:bodyPr/>
                    <a:lstStyle/>
                    <a:p>
                      <a:r>
                        <a:rPr lang="en-US" sz="1100"/>
                        <a:t>ID attribútum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$e/@id, $g/@id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Az</a:t>
                      </a:r>
                      <a:r>
                        <a:rPr lang="en-US" sz="1100" dirty="0"/>
                        <a:t> </a:t>
                      </a:r>
                      <a:r>
                        <a:rPr lang="en-US" sz="1100" dirty="0" err="1"/>
                        <a:t>elem</a:t>
                      </a:r>
                      <a:r>
                        <a:rPr lang="en-US" sz="1100" dirty="0"/>
                        <a:t> </a:t>
                      </a:r>
                      <a:r>
                        <a:rPr lang="en-US" sz="1100" dirty="0" err="1"/>
                        <a:t>azonosító</a:t>
                      </a:r>
                      <a:r>
                        <a:rPr lang="en-US" sz="1100" dirty="0"/>
                        <a:t> </a:t>
                      </a:r>
                      <a:r>
                        <a:rPr lang="en-US" sz="1100" dirty="0" err="1"/>
                        <a:t>attribútuma</a:t>
                      </a:r>
                      <a:endParaRPr 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215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5391029"/>
      </p:ext>
    </p:extLst>
  </p:cSld>
  <p:clrMapOvr>
    <a:masterClrMapping/>
  </p:clrMapOvr>
</p:sld>
</file>

<file path=ppt/theme/theme1.xml><?xml version="1.0" encoding="utf-8"?>
<a:theme xmlns:a="http://schemas.openxmlformats.org/drawingml/2006/main" name="Szálak">
  <a:themeElements>
    <a:clrScheme name="Szálak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Szálak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álak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TM02892315[[fn=Szálak]]</Template>
  <TotalTime>2997</TotalTime>
  <Words>606</Words>
  <Application>Microsoft Office PowerPoint</Application>
  <PresentationFormat>Szélesvásznú</PresentationFormat>
  <Paragraphs>88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Arial</vt:lpstr>
      <vt:lpstr>Bahnschrift Light</vt:lpstr>
      <vt:lpstr>Century Gothic</vt:lpstr>
      <vt:lpstr>Wingdings 3</vt:lpstr>
      <vt:lpstr>Szálak</vt:lpstr>
      <vt:lpstr>Xquery</vt:lpstr>
      <vt:lpstr>Mi az XQuery?</vt:lpstr>
      <vt:lpstr>Fő célja - használata</vt:lpstr>
      <vt:lpstr>PowerPoint-bemutató</vt:lpstr>
      <vt:lpstr>FLWOR expression</vt:lpstr>
      <vt:lpstr>1. Feladat </vt:lpstr>
      <vt:lpstr>2. Feladat</vt:lpstr>
      <vt:lpstr>3. feladat</vt:lpstr>
      <vt:lpstr>4. Feladat</vt:lpstr>
      <vt:lpstr>Használt Xpath kifejezések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Xquery</dc:title>
  <dc:creator>szalóczy krisztián</dc:creator>
  <cp:lastModifiedBy>Szalóczy Krisztián</cp:lastModifiedBy>
  <cp:revision>19</cp:revision>
  <dcterms:created xsi:type="dcterms:W3CDTF">2026-03-14T08:14:52Z</dcterms:created>
  <dcterms:modified xsi:type="dcterms:W3CDTF">2026-03-17T13:03:08Z</dcterms:modified>
</cp:coreProperties>
</file>